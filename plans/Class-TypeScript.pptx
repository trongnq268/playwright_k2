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56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6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;p2" descr="A picture containing graphics, font, graphic design, screenshot  Description automatically generated">
            <a:extLst>
              <a:ext uri="{FF2B5EF4-FFF2-40B4-BE49-F238E27FC236}">
                <a16:creationId xmlns:a16="http://schemas.microsoft.com/office/drawing/2014/main" id="{C3E506D2-5ACE-660D-E719-D897D42D9425}"/>
              </a:ext>
            </a:extLst>
          </p:cNvPr>
          <p:cNvSpPr/>
          <p:nvPr userDrawn="1"/>
        </p:nvSpPr>
        <p:spPr>
          <a:xfrm>
            <a:off x="10038476" y="110275"/>
            <a:ext cx="1973333" cy="481889"/>
          </a:xfrm>
          <a:custGeom>
            <a:avLst/>
            <a:gdLst/>
            <a:ahLst/>
            <a:cxnLst/>
            <a:rect l="l" t="t" r="r" b="b"/>
            <a:pathLst>
              <a:path w="3047619" h="708660" extrusionOk="0">
                <a:moveTo>
                  <a:pt x="0" y="0"/>
                </a:moveTo>
                <a:lnTo>
                  <a:pt x="3047619" y="0"/>
                </a:lnTo>
                <a:lnTo>
                  <a:pt x="3047619" y="708660"/>
                </a:lnTo>
                <a:lnTo>
                  <a:pt x="0" y="708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Nền tảng cho Page Object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trong TypeScript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49808" y="3474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dữ liệu và hành vi vào một khuôn mẫu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4069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F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class trước — buổi sau dùng chính nó để dựng Page Object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là gì?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011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en-US" sz="1400" dirty="0"/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khuôn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(blueprint)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object.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object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sẽ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gì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(property)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gì</a:t>
            </a: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(method).</a:t>
            </a:r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Constructor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1874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của object và cách khởi tạo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— hàm nằm trong class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971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chiếu tới chính object hiện tại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343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709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/ readonly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389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4343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cần cho POM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709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chính là một Page Object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là gì?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khuôn mẫu — từ đó tạo ra nhiều object cùng dạng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</a:t>
            </a:r>
            <a:r>
              <a:rPr lang="en-US" sz="1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bản thiết kế.  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</a:t>
            </a:r>
            <a:r>
              <a:rPr lang="en-US" sz="16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sản phẩm tạo ra từ bản thiết kế đó.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5400000" algn="bl" rotWithShape="0">
              <a:srgbClr val="9BB0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Khuôn bánh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hình dạng một lần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5400000" algn="bl" rotWithShape="0">
              <a:srgbClr val="9BB0C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chiếc bánh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(instance)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bao nhiêu cái tùy ý từ khuôn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11480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224528"/>
            <a:ext cx="1060704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{}                 // định nghĩa khuôn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p1 = new Product();        // tạo object thứ nhất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p2 = new Product();        // tạo object thứ hai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&amp; Constructor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= dữ liệu.  Constructor = hàm chạy khi tạo object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6766560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string;      // property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number;     // property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constructor: chạy khi new Product(...)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constructor(name: string, price: number)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name;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this.price = price;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dress = new Product('Dress', 500);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console.log(dress.name);   // 'Dress'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0" y="178308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0" y="1892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22219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gắn với object, khai báo kèm kiểu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0" y="2862072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33009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chạy khi dùng new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3941064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40507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Tham số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43799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dữ liệu vào lúc khởi tạo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5020056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51297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Gán bằng this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54589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this.name lưu vào chính object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viết gọn Constructor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tự tạo property khi thêm modifier vào tham số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DÒNG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52120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{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string;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number;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constructor(name: string,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price: number) {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name;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this.price = price;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B8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03520" cy="3108960"/>
          </a:xfrm>
          <a:prstGeom prst="roundRect">
            <a:avLst>
              <a:gd name="adj" fmla="val 1765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121408"/>
            <a:ext cx="502920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{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name: string,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price: number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{}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property tự sinh ra từ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tham số có modifier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public / private / readonly trước tham số → TypeScript tự khai báo &amp; gán property.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cách Page Object nhận 'page' ở buổi sau.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hành vi của object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nằm trong class, thao tác trên property của chính nó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6766560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string[] = [];   // property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addItem(name: string) {     // method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this.items.push(name);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getCount(): number {        // method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this.items.length;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cart = new Cart();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cart.addItem('Dress');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cart.getCount();   //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0" y="178308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24597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66760" y="2377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hàm bên trong class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311810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66760" y="30358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từ khóa function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37764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6760" y="369417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property qua this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44348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435254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khai báo kiểu trả về: getCount(): number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50932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6760" y="50109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qua object: cart.addItem()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khóa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Trỏ tới chính object đang gọi method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023360"/>
          </a:xfrm>
          <a:prstGeom prst="roundRect">
            <a:avLst>
              <a:gd name="adj" fmla="val 1364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64922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= 0;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increase()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this.count++;   // count CỦA object này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new Counter();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new Counter();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a.increase();  a.increase();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b.increase();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a.count = 2,  b.count =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0" y="19202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181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= 'object của tôi'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18120" y="2606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object giữ dữ liệu riêng. this đảm bảo method tác động đúng vào object đang gọi nó, không lẫn sang object khác.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39319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181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7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Bẫy thường gặp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4480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this khi truy cập property → dùng biến ngoài phạm vi hoặc lỗi 'is not defined'.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Modifier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ai được truy cập property / method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1B8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88920" y="175564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Mặc định. Truy cập từ mọi nơi (cả ngoài class).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49640" y="1755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cart.items ✓ từ bên ngoài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321868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dùng được BÊN TRONG class. Ẩn chi tiết nội bộ.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49640" y="32186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cart.#secret ✕ từ ngoài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8FB"/>
          </a:solidFill>
          <a:ln w="12700">
            <a:solidFill>
              <a:srgbClr val="E0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800600"/>
            <a:ext cx="178308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8920" y="468172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1 lần (lúc khởi tạo), sau đó không đổi được.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49640" y="468172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this.page không bị gán lại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dụ: private + readonly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(encapsulation) — che chi tiết, chỉ mở method cần thiết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206240"/>
          </a:xfrm>
          <a:prstGeom prst="roundRect">
            <a:avLst>
              <a:gd name="adj" fmla="val 1304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107899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items: string[] = [];      // ẩn: ngoài class không đụng được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constructor(readonly maxSize: number) {}   // gán 1 lần, không đổi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addItem(name: string) {            // cổng công khai để thao tác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(this.items.length &lt; this.maxSize) this.items.push(name);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cart = new Cart(10);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cart.addItem('Dress');   // ✓ qua method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cart.items;              // ✕ lỗi biên dịch: 'items' is private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class quan trọng với POM?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Page Object chính là một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114800"/>
          </a:xfrm>
          <a:prstGeom prst="roundRect">
            <a:avLst>
              <a:gd name="adj" fmla="val 1333"/>
            </a:avLst>
          </a:prstGeom>
          <a:solidFill>
            <a:srgbClr val="1B2733"/>
          </a:solidFill>
          <a:ln w="12700">
            <a:solidFill>
              <a:srgbClr val="2C3E5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676656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Xem trước buổi sau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CartPage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property: locator (private readonly)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rows =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this.page.locator('#cart tr');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page: Page) {}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method: hành động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removeFirstItem()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this.rows.first().click();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17373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CartPage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18120" y="20391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trang = 1 class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8120" y="25603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rows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18120" y="28620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là property được đóng gói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33832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constructor(private page)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36850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tự tạo property 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42062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removeFirstItem()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18120" y="4507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hành động nghiệp vụ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50292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this.rows / this.page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53309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trỏ tới trang hiện tại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114800" cy="4114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-137160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kết &amp; Thực hành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Khuôn mẫu tạo object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 + constructor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và cách khởi tạo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+ this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tác động lên object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C4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/ readonly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474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&amp; bảo vệ dữ liệu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nhỏ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800600"/>
            <a:ext cx="10058400" cy="566928"/>
          </a:xfrm>
          <a:prstGeom prst="roundRect">
            <a:avLst>
              <a:gd name="adj" fmla="val 16129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C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800600"/>
            <a:ext cx="9235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class Product (name, price) + method áp dụng giảm giá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058400" cy="566928"/>
          </a:xfrm>
          <a:prstGeom prst="roundRect">
            <a:avLst>
              <a:gd name="adj" fmla="val 16129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577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C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486400"/>
            <a:ext cx="9235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class Cart: private items, method addItem / getTotal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1520" y="6172200"/>
            <a:ext cx="10058400" cy="566928"/>
          </a:xfrm>
          <a:prstGeom prst="roundRect">
            <a:avLst>
              <a:gd name="adj" fmla="val 16129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6263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C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6172200"/>
            <a:ext cx="9235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items sang private và mở method để thao tác an toàn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1133</Words>
  <Application>Microsoft Office PowerPoint</Application>
  <PresentationFormat>Widescreen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OP Staff5</cp:lastModifiedBy>
  <cp:revision>3</cp:revision>
  <dcterms:created xsi:type="dcterms:W3CDTF">2026-07-29T04:33:24Z</dcterms:created>
  <dcterms:modified xsi:type="dcterms:W3CDTF">2026-08-10T08:59:35Z</dcterms:modified>
</cp:coreProperties>
</file>